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3" cy="6857984"/>
          </a:xfrm>
          <a:prstGeom prst="rect">
            <a:avLst/>
          </a:prstGeom>
          <a:gradFill rotWithShape="1">
            <a:gsLst>
              <a:gs pos="0">
                <a:srgbClr val="93D3F3">
                  <a:alpha val="98000"/>
                </a:srgbClr>
              </a:gs>
              <a:gs pos="72000">
                <a:srgbClr val="93D3F3">
                  <a:alpha val="0"/>
                </a:srgbClr>
              </a:gs>
            </a:gsLst>
            <a:path path="circle">
              <a:fillToRect l="20000" t="28000" r="80000" b="72000"/>
            </a:path>
          </a:gradFill>
          <a:ln/>
          <a:effectLst>
            <a:outerShdw sx="100000" sy="100000" kx="0" ky="0" algn="bl" rotWithShape="0" blurRad="95250" dist="38100" dir="5400000">
              <a:srgbClr val="014263">
                <a:alpha val="7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344" y="1690924"/>
            <a:ext cx="11399515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31AD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UNFOLDINGWORD · DESIGN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44" y="2223363"/>
            <a:ext cx="10674091" cy="1939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130"/>
              </a:lnSpc>
              <a:buNone/>
            </a:pPr>
            <a:r>
              <a:rPr lang="en-US" sz="7800" b="1" spc="-234" kern="0" dirty="0">
                <a:solidFill>
                  <a:srgbClr val="0527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344" y="4448900"/>
            <a:ext cx="7456107" cy="756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80"/>
              </a:lnSpc>
              <a:buNone/>
            </a:pPr>
            <a:r>
              <a:rPr lang="en-US" sz="1950" dirty="0">
                <a:solidFill>
                  <a:srgbClr val="0142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liquid-glass design language: translucent surfaces over a soft aurora field, tuned to the unfoldingWord palette.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344" y="6180175"/>
            <a:ext cx="153213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489953" y="6180175"/>
            <a:ext cx="863785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APRIL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3" cy="6857984"/>
          </a:xfrm>
          <a:prstGeom prst="rect">
            <a:avLst/>
          </a:prstGeom>
          <a:gradFill rotWithShape="1">
            <a:gsLst>
              <a:gs pos="0">
                <a:srgbClr val="0E2733">
                  <a:alpha val="100000"/>
                </a:srgbClr>
              </a:gs>
              <a:gs pos="55000">
                <a:srgbClr val="081A24">
                  <a:alpha val="100000"/>
                </a:srgbClr>
              </a:gs>
              <a:gs pos="100000">
                <a:srgbClr val="040F16">
                  <a:alpha val="100000"/>
                </a:srgbClr>
              </a:gs>
            </a:gsLst>
            <a:path path="circle">
              <a:fillToRect l="50000" t="22000" r="50000" b="78000"/>
            </a:path>
          </a:gradFill>
          <a:ln/>
          <a:effectLst>
            <a:outerShdw sx="100000" sy="100000" kx="0" ky="0" algn="bl" rotWithShape="0" blurRad="95250" dist="38100" dir="5400000">
              <a:srgbClr val="010E14">
                <a:alpha val="4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344" y="3742967"/>
            <a:ext cx="11399515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5CC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44" y="4199188"/>
            <a:ext cx="11399515" cy="893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59"/>
              </a:lnSpc>
              <a:buNone/>
            </a:pPr>
            <a:r>
              <a:rPr lang="en-US" sz="6600" b="1" spc="-165" kern="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Foundations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344" y="5301698"/>
            <a:ext cx="6278820" cy="756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80"/>
              </a:lnSpc>
              <a:buNone/>
            </a:pPr>
            <a:r>
              <a:rPr lang="en-US" sz="1950" dirty="0">
                <a:solidFill>
                  <a:srgbClr val="D9E8E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Colour, type, glass, depth and motion — the five decisions everything else inherits.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504618" y="514233"/>
            <a:ext cx="3238814" cy="2705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04"/>
              </a:lnSpc>
              <a:buNone/>
            </a:pPr>
            <a:r>
              <a:rPr lang="en-US" sz="21000" b="1" spc="-840" kern="0" dirty="0">
                <a:solidFill>
                  <a:srgbClr val="5CC3EE">
                    <a:alpha val="16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01</a:t>
            </a:r>
            <a:endParaRPr lang="en-US" sz="21000" dirty="0"/>
          </a:p>
        </p:txBody>
      </p:sp>
      <p:sp>
        <p:nvSpPr>
          <p:cNvPr id="7" name="Text 5"/>
          <p:cNvSpPr/>
          <p:nvPr/>
        </p:nvSpPr>
        <p:spPr>
          <a:xfrm>
            <a:off x="914344" y="6180175"/>
            <a:ext cx="153213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B99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02821" y="6180175"/>
            <a:ext cx="250917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B99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3" cy="6857984"/>
          </a:xfrm>
          <a:prstGeom prst="rect">
            <a:avLst/>
          </a:prstGeom>
          <a:gradFill rotWithShape="1">
            <a:gsLst>
              <a:gs pos="0">
                <a:srgbClr val="93D3F3">
                  <a:alpha val="98000"/>
                </a:srgbClr>
              </a:gs>
              <a:gs pos="72000">
                <a:srgbClr val="93D3F3">
                  <a:alpha val="0"/>
                </a:srgbClr>
              </a:gs>
            </a:gsLst>
            <a:path path="circle">
              <a:fillToRect l="20000" t="28000" r="80000" b="72000"/>
            </a:path>
          </a:gradFill>
          <a:ln/>
          <a:effectLst>
            <a:outerShdw sx="100000" sy="100000" kx="0" ky="0" algn="bl" rotWithShape="0" blurRad="95250" dist="38100" dir="5400000">
              <a:srgbClr val="014263">
                <a:alpha val="7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344" y="838126"/>
            <a:ext cx="11399515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31AD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IS IN THE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44" y="1237285"/>
            <a:ext cx="8044680" cy="1320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250"/>
              </a:lnSpc>
              <a:buNone/>
            </a:pPr>
            <a:r>
              <a:rPr lang="en-US" sz="4950" b="1" spc="-124" kern="0" dirty="0">
                <a:solidFill>
                  <a:srgbClr val="05273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Built once, inherited everywhere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914344" y="3684546"/>
            <a:ext cx="3289327" cy="2335312"/>
          </a:xfrm>
          <a:prstGeom prst="roundRect">
            <a:avLst>
              <a:gd name="adj" fmla="val 11420"/>
            </a:avLst>
          </a:prstGeom>
          <a:solidFill>
            <a:srgbClr val="FFFFFF">
              <a:alpha val="46000"/>
            </a:srgbClr>
          </a:solidFill>
          <a:ln w="869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57150" dist="19050" dir="5400000">
              <a:srgbClr val="014263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65816" y="4074196"/>
            <a:ext cx="2845021" cy="932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30"/>
              </a:lnSpc>
              <a:buNone/>
            </a:pPr>
            <a:r>
              <a:rPr lang="en-US" sz="6150" b="1" spc="-215" kern="0" dirty="0">
                <a:solidFill>
                  <a:srgbClr val="0142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224</a:t>
            </a:r>
            <a:endParaRPr lang="en-US" sz="6150" dirty="0"/>
          </a:p>
        </p:txBody>
      </p:sp>
      <p:sp>
        <p:nvSpPr>
          <p:cNvPr id="7" name="Text 5"/>
          <p:cNvSpPr/>
          <p:nvPr/>
        </p:nvSpPr>
        <p:spPr>
          <a:xfrm>
            <a:off x="1265816" y="5101847"/>
            <a:ext cx="2663975" cy="60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75"/>
              </a:lnSpc>
              <a:buNone/>
            </a:pPr>
            <a:r>
              <a:rPr lang="en-US" sz="1275" dirty="0">
                <a:solidFill>
                  <a:srgbClr val="4A7C9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Design tokens, from the glass fill ladder to the motion curves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4451209" y="3684546"/>
            <a:ext cx="3289327" cy="2335312"/>
          </a:xfrm>
          <a:prstGeom prst="roundRect">
            <a:avLst>
              <a:gd name="adj" fmla="val 11420"/>
            </a:avLst>
          </a:prstGeom>
          <a:solidFill>
            <a:srgbClr val="FFFFFF">
              <a:alpha val="46000"/>
            </a:srgbClr>
          </a:solidFill>
          <a:ln w="869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57150" dist="19050" dir="5400000">
              <a:srgbClr val="014263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2682" y="4074196"/>
            <a:ext cx="2845021" cy="932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30"/>
              </a:lnSpc>
              <a:buNone/>
            </a:pPr>
            <a:r>
              <a:rPr lang="en-US" sz="6150" b="1" spc="-215" kern="0" dirty="0">
                <a:solidFill>
                  <a:srgbClr val="0142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21</a:t>
            </a:r>
            <a:endParaRPr lang="en-US" sz="6150" dirty="0"/>
          </a:p>
        </p:txBody>
      </p:sp>
      <p:sp>
        <p:nvSpPr>
          <p:cNvPr id="10" name="Text 8"/>
          <p:cNvSpPr/>
          <p:nvPr/>
        </p:nvSpPr>
        <p:spPr>
          <a:xfrm>
            <a:off x="4802682" y="5101847"/>
            <a:ext cx="2663975" cy="60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75"/>
              </a:lnSpc>
              <a:buNone/>
            </a:pPr>
            <a:r>
              <a:rPr lang="en-US" sz="1275" dirty="0">
                <a:solidFill>
                  <a:srgbClr val="4A7C9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Components — ten core primitives, eleven in the example app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7988075" y="3684546"/>
            <a:ext cx="3289463" cy="2335312"/>
          </a:xfrm>
          <a:prstGeom prst="roundRect">
            <a:avLst>
              <a:gd name="adj" fmla="val 11420"/>
            </a:avLst>
          </a:prstGeom>
          <a:solidFill>
            <a:srgbClr val="FFFFFF">
              <a:alpha val="46000"/>
            </a:srgbClr>
          </a:solidFill>
          <a:ln w="869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57150" dist="19050" dir="5400000">
              <a:srgbClr val="014263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547" y="4074196"/>
            <a:ext cx="2845171" cy="819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30"/>
              </a:lnSpc>
              <a:buNone/>
            </a:pPr>
            <a:r>
              <a:rPr lang="en-US" sz="6150" b="1" spc="-215" kern="0" dirty="0">
                <a:solidFill>
                  <a:srgbClr val="0142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6150" dirty="0"/>
          </a:p>
        </p:txBody>
      </p:sp>
      <p:sp>
        <p:nvSpPr>
          <p:cNvPr id="13" name="Text 11"/>
          <p:cNvSpPr/>
          <p:nvPr/>
        </p:nvSpPr>
        <p:spPr>
          <a:xfrm>
            <a:off x="8339547" y="4988539"/>
            <a:ext cx="2664115" cy="71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75"/>
              </a:lnSpc>
              <a:buNone/>
            </a:pPr>
            <a:r>
              <a:rPr lang="en-US" sz="1275" dirty="0">
                <a:solidFill>
                  <a:srgbClr val="4A7C9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Complete themes; components read aliases and go dark unchanged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914344" y="6180174"/>
            <a:ext cx="153213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02821" y="6180174"/>
            <a:ext cx="250917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3" cy="6857984"/>
          </a:xfrm>
          <a:prstGeom prst="rect">
            <a:avLst/>
          </a:prstGeom>
          <a:gradFill rotWithShape="1">
            <a:gsLst>
              <a:gs pos="0">
                <a:srgbClr val="93D3F3">
                  <a:alpha val="98000"/>
                </a:srgbClr>
              </a:gs>
              <a:gs pos="72000">
                <a:srgbClr val="93D3F3">
                  <a:alpha val="0"/>
                </a:srgbClr>
              </a:gs>
            </a:gsLst>
            <a:path path="circle">
              <a:fillToRect l="20000" t="28000" r="80000" b="72000"/>
            </a:path>
          </a:gradFill>
          <a:ln/>
          <a:effectLst>
            <a:outerShdw sx="100000" sy="100000" kx="0" ky="0" algn="bl" rotWithShape="0" blurRad="95250" dist="38100" dir="5400000">
              <a:srgbClr val="014263">
                <a:alpha val="7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344" y="1818905"/>
            <a:ext cx="6286636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31AD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MATERIAL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344" y="2256106"/>
            <a:ext cx="5101532" cy="1126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88"/>
              </a:lnSpc>
              <a:buNone/>
            </a:pPr>
            <a:r>
              <a:rPr lang="en-US" sz="4200" b="1" spc="-34" kern="0" dirty="0">
                <a:solidFill>
                  <a:srgbClr val="05273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surface is glass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344" y="3724761"/>
            <a:ext cx="85592" cy="85592"/>
          </a:xfrm>
          <a:prstGeom prst="ellipse">
            <a:avLst/>
          </a:prstGeom>
          <a:solidFill>
            <a:srgbClr val="31ADE3"/>
          </a:solidFill>
          <a:ln/>
        </p:spPr>
      </p:sp>
      <p:sp>
        <p:nvSpPr>
          <p:cNvPr id="6" name="Text 4"/>
          <p:cNvSpPr/>
          <p:nvPr/>
        </p:nvSpPr>
        <p:spPr>
          <a:xfrm>
            <a:off x="1133215" y="3648680"/>
            <a:ext cx="5485152" cy="3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56"/>
              </a:lnSpc>
              <a:buNone/>
            </a:pPr>
            <a:r>
              <a:rPr lang="en-US" sz="1425" dirty="0">
                <a:solidFill>
                  <a:srgbClr val="0142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fill steps and five blur steps, always with saturate(160%).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914344" y="4148512"/>
            <a:ext cx="85592" cy="85592"/>
          </a:xfrm>
          <a:prstGeom prst="ellipse">
            <a:avLst/>
          </a:prstGeom>
          <a:solidFill>
            <a:srgbClr val="31ADE3"/>
          </a:solidFill>
          <a:ln/>
        </p:spPr>
      </p:sp>
      <p:sp>
        <p:nvSpPr>
          <p:cNvPr id="8" name="Text 6"/>
          <p:cNvSpPr/>
          <p:nvPr/>
        </p:nvSpPr>
        <p:spPr>
          <a:xfrm>
            <a:off x="1133215" y="4072430"/>
            <a:ext cx="5661139" cy="5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56"/>
              </a:lnSpc>
              <a:buNone/>
            </a:pPr>
            <a:r>
              <a:rPr lang="en-US" sz="1425" dirty="0">
                <a:solidFill>
                  <a:srgbClr val="0142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0.5px white hairline, an inner top light, and a three-layer Ocean shadow — all three, always.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14344" y="4843711"/>
            <a:ext cx="85592" cy="85592"/>
          </a:xfrm>
          <a:prstGeom prst="ellipse">
            <a:avLst/>
          </a:prstGeom>
          <a:solidFill>
            <a:srgbClr val="31ADE3"/>
          </a:solidFill>
          <a:ln/>
        </p:spPr>
      </p:sp>
      <p:sp>
        <p:nvSpPr>
          <p:cNvPr id="10" name="Text 8"/>
          <p:cNvSpPr/>
          <p:nvPr/>
        </p:nvSpPr>
        <p:spPr>
          <a:xfrm>
            <a:off x="1133215" y="4767630"/>
            <a:ext cx="5500395" cy="3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56"/>
              </a:lnSpc>
              <a:buNone/>
            </a:pPr>
            <a:r>
              <a:rPr lang="en-US" sz="1425" dirty="0">
                <a:solidFill>
                  <a:srgbClr val="0142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Blur only where a surface floats over content it does not own.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618" r="618" t="0" b="0"/>
          <a:stretch/>
        </p:blipFill>
        <p:spPr>
          <a:xfrm>
            <a:off x="7315156" y="0"/>
            <a:ext cx="4876726" cy="68579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344" y="6180176"/>
            <a:ext cx="153213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3" cy="6857984"/>
          </a:xfrm>
          <a:prstGeom prst="rect">
            <a:avLst/>
          </a:prstGeom>
          <a:gradFill rotWithShape="1">
            <a:gsLst>
              <a:gs pos="0">
                <a:srgbClr val="93D3F3">
                  <a:alpha val="98000"/>
                </a:srgbClr>
              </a:gs>
              <a:gs pos="72000">
                <a:srgbClr val="93D3F3">
                  <a:alpha val="0"/>
                </a:srgbClr>
              </a:gs>
            </a:gsLst>
            <a:path path="circle">
              <a:fillToRect l="20000" t="28000" r="80000" b="72000"/>
            </a:path>
          </a:gradFill>
          <a:ln/>
          <a:effectLst>
            <a:outerShdw sx="100000" sy="100000" kx="0" ky="0" algn="bl" rotWithShape="0" blurRad="95250" dist="38100" dir="5400000">
              <a:srgbClr val="014263">
                <a:alpha val="7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344" y="2485439"/>
            <a:ext cx="9221968" cy="1318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93"/>
              </a:lnSpc>
              <a:buNone/>
            </a:pPr>
            <a:r>
              <a:rPr lang="en-US" sz="4500" b="1" spc="-112" kern="0" dirty="0">
                <a:solidFill>
                  <a:srgbClr val="05273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brand is not a layer on top of the glass. It is the glass.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523680" y="4146472"/>
            <a:ext cx="2743846" cy="264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4A7C9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Visual foundations, readme.md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344" y="6180174"/>
            <a:ext cx="153213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GENERATIVE GLASS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02821" y="6180174"/>
            <a:ext cx="250917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7099A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2026-08-10T14:41:41Z</dcterms:created>
  <dcterms:modified xsi:type="dcterms:W3CDTF">2026-08-10T14:41:41Z</dcterms:modified>
</cp:coreProperties>
</file>